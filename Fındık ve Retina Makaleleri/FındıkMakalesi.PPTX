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5" r:id="rId1"/>
  </p:sldMasterIdLst>
  <p:sldIdLst>
    <p:sldId id="256" r:id="rId2"/>
    <p:sldId id="257" r:id="rId3"/>
    <p:sldId id="258" r:id="rId4"/>
    <p:sldId id="260" r:id="rId5"/>
    <p:sldId id="259" r:id="rId6"/>
    <p:sldId id="261" r:id="rId7"/>
    <p:sldId id="262" r:id="rId8"/>
    <p:sldId id="263" r:id="rId9"/>
    <p:sldId id="264" r:id="rId10"/>
    <p:sldId id="265" r:id="rId11"/>
    <p:sldId id="266" r:id="rId12"/>
    <p:sldId id="267" r:id="rId13"/>
    <p:sldId id="268" r:id="rId14"/>
    <p:sldId id="270" r:id="rId15"/>
    <p:sldId id="269"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49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tr-TR"/>
              <a:t>Asıl başlık stilini düzenlemek için tıklayın</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lvl1pPr algn="l">
              <a:defRPr/>
            </a:lvl1pPr>
          </a:lstStyle>
          <a:p>
            <a:fld id="{1362A151-ED6B-4616-BE6B-39AA30713A0E}" type="datetimeFigureOut">
              <a:rPr lang="tr-TR" smtClean="0"/>
              <a:t>15.12.2022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4E2B0EC-CE29-4CA9-8C2F-F8D0B64A02DA}" type="slidenum">
              <a:rPr lang="tr-TR" smtClean="0"/>
              <a:t>‹#›</a:t>
            </a:fld>
            <a:endParaRPr lang="tr-TR"/>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3894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1362A151-ED6B-4616-BE6B-39AA30713A0E}" type="datetimeFigureOut">
              <a:rPr lang="tr-TR" smtClean="0"/>
              <a:t>15.12.2022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4E2B0EC-CE29-4CA9-8C2F-F8D0B64A02DA}" type="slidenum">
              <a:rPr lang="tr-TR" smtClean="0"/>
              <a:t>‹#›</a:t>
            </a:fld>
            <a:endParaRPr lang="tr-TR"/>
          </a:p>
        </p:txBody>
      </p:sp>
    </p:spTree>
    <p:extLst>
      <p:ext uri="{BB962C8B-B14F-4D97-AF65-F5344CB8AC3E}">
        <p14:creationId xmlns:p14="http://schemas.microsoft.com/office/powerpoint/2010/main" val="3907116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 Bilgisi">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tr-TR"/>
              <a:t>Asıl başlık stilini düzenlemek için tıklayın</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1362A151-ED6B-4616-BE6B-39AA30713A0E}" type="datetimeFigureOut">
              <a:rPr lang="tr-TR" smtClean="0"/>
              <a:t>15.12.2022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4E2B0EC-CE29-4CA9-8C2F-F8D0B64A02DA}" type="slidenum">
              <a:rPr lang="tr-TR" smtClean="0"/>
              <a:t>‹#›</a:t>
            </a:fld>
            <a:endParaRPr lang="tr-TR"/>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1724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1362A151-ED6B-4616-BE6B-39AA30713A0E}" type="datetimeFigureOut">
              <a:rPr lang="tr-TR" smtClean="0"/>
              <a:t>15.12.2022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24E2B0EC-CE29-4CA9-8C2F-F8D0B64A02DA}" type="slidenum">
              <a:rPr lang="tr-TR" smtClean="0"/>
              <a:t>‹#›</a:t>
            </a:fld>
            <a:endParaRPr lang="tr-TR"/>
          </a:p>
        </p:txBody>
      </p:sp>
    </p:spTree>
    <p:extLst>
      <p:ext uri="{BB962C8B-B14F-4D97-AF65-F5344CB8AC3E}">
        <p14:creationId xmlns:p14="http://schemas.microsoft.com/office/powerpoint/2010/main" val="2753730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024128" y="2967788"/>
            <a:ext cx="4754880" cy="3341572"/>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tr-TR"/>
              <a:t>Asıl metin stillerini düzenlemek için tıklayın</a:t>
            </a:r>
          </a:p>
        </p:txBody>
      </p:sp>
      <p:sp>
        <p:nvSpPr>
          <p:cNvPr id="6" name="Content Placeholder 5"/>
          <p:cNvSpPr>
            <a:spLocks noGrp="1"/>
          </p:cNvSpPr>
          <p:nvPr>
            <p:ph sz="quarter" idx="4"/>
          </p:nvPr>
        </p:nvSpPr>
        <p:spPr>
          <a:xfrm>
            <a:off x="5990888" y="2967788"/>
            <a:ext cx="4754880" cy="3341572"/>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1362A151-ED6B-4616-BE6B-39AA30713A0E}" type="datetimeFigureOut">
              <a:rPr lang="tr-TR" smtClean="0"/>
              <a:t>15.12.2022</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24E2B0EC-CE29-4CA9-8C2F-F8D0B64A02DA}" type="slidenum">
              <a:rPr lang="tr-TR" smtClean="0"/>
              <a:t>‹#›</a:t>
            </a:fld>
            <a:endParaRPr lang="tr-TR"/>
          </a:p>
        </p:txBody>
      </p:sp>
    </p:spTree>
    <p:extLst>
      <p:ext uri="{BB962C8B-B14F-4D97-AF65-F5344CB8AC3E}">
        <p14:creationId xmlns:p14="http://schemas.microsoft.com/office/powerpoint/2010/main" val="3159221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1362A151-ED6B-4616-BE6B-39AA30713A0E}" type="datetimeFigureOut">
              <a:rPr lang="tr-TR" smtClean="0"/>
              <a:t>15.12.2022</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24E2B0EC-CE29-4CA9-8C2F-F8D0B64A02DA}" type="slidenum">
              <a:rPr lang="tr-TR" smtClean="0"/>
              <a:t>‹#›</a:t>
            </a:fld>
            <a:endParaRPr lang="tr-TR"/>
          </a:p>
        </p:txBody>
      </p:sp>
    </p:spTree>
    <p:extLst>
      <p:ext uri="{BB962C8B-B14F-4D97-AF65-F5344CB8AC3E}">
        <p14:creationId xmlns:p14="http://schemas.microsoft.com/office/powerpoint/2010/main" val="908258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362A151-ED6B-4616-BE6B-39AA30713A0E}" type="datetimeFigureOut">
              <a:rPr lang="tr-TR" smtClean="0"/>
              <a:t>15.12.2022</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24E2B0EC-CE29-4CA9-8C2F-F8D0B64A02DA}" type="slidenum">
              <a:rPr lang="tr-TR" smtClean="0"/>
              <a:t>‹#›</a:t>
            </a:fld>
            <a:endParaRPr lang="tr-TR"/>
          </a:p>
        </p:txBody>
      </p:sp>
    </p:spTree>
    <p:extLst>
      <p:ext uri="{BB962C8B-B14F-4D97-AF65-F5344CB8AC3E}">
        <p14:creationId xmlns:p14="http://schemas.microsoft.com/office/powerpoint/2010/main" val="2869265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tr-TR"/>
              <a:t>Asıl başlık stilini düzenlemek için tıklayın</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1362A151-ED6B-4616-BE6B-39AA30713A0E}" type="datetimeFigureOut">
              <a:rPr lang="tr-TR" smtClean="0"/>
              <a:t>15.12.2022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24E2B0EC-CE29-4CA9-8C2F-F8D0B64A02DA}" type="slidenum">
              <a:rPr lang="tr-TR" smtClean="0"/>
              <a:t>‹#›</a:t>
            </a:fld>
            <a:endParaRPr lang="tr-TR"/>
          </a:p>
        </p:txBody>
      </p:sp>
    </p:spTree>
    <p:extLst>
      <p:ext uri="{BB962C8B-B14F-4D97-AF65-F5344CB8AC3E}">
        <p14:creationId xmlns:p14="http://schemas.microsoft.com/office/powerpoint/2010/main" val="2220108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1362A151-ED6B-4616-BE6B-39AA30713A0E}" type="datetimeFigureOut">
              <a:rPr lang="tr-TR" smtClean="0"/>
              <a:t>15.12.2022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24E2B0EC-CE29-4CA9-8C2F-F8D0B64A02DA}" type="slidenum">
              <a:rPr lang="tr-TR" smtClean="0"/>
              <a:t>‹#›</a:t>
            </a:fld>
            <a:endParaRPr lang="tr-TR"/>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3569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1362A151-ED6B-4616-BE6B-39AA30713A0E}" type="datetimeFigureOut">
              <a:rPr lang="tr-TR" smtClean="0"/>
              <a:t>15.12.2022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4E2B0EC-CE29-4CA9-8C2F-F8D0B64A02DA}" type="slidenum">
              <a:rPr lang="tr-TR" smtClean="0"/>
              <a:t>‹#›</a:t>
            </a:fld>
            <a:endParaRPr lang="tr-TR"/>
          </a:p>
        </p:txBody>
      </p:sp>
    </p:spTree>
    <p:extLst>
      <p:ext uri="{BB962C8B-B14F-4D97-AF65-F5344CB8AC3E}">
        <p14:creationId xmlns:p14="http://schemas.microsoft.com/office/powerpoint/2010/main" val="242243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1362A151-ED6B-4616-BE6B-39AA30713A0E}" type="datetimeFigureOut">
              <a:rPr lang="tr-TR" smtClean="0"/>
              <a:t>15.12.2022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4E2B0EC-CE29-4CA9-8C2F-F8D0B64A02DA}" type="slidenum">
              <a:rPr lang="tr-TR" smtClean="0"/>
              <a:t>‹#›</a:t>
            </a:fld>
            <a:endParaRPr lang="tr-TR"/>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6780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1362A151-ED6B-4616-BE6B-39AA30713A0E}" type="datetimeFigureOut">
              <a:rPr lang="tr-TR" smtClean="0"/>
              <a:t>15.12.2022</a:t>
            </a:fld>
            <a:endParaRPr lang="tr-TR"/>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tr-TR"/>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24E2B0EC-CE29-4CA9-8C2F-F8D0B64A02DA}" type="slidenum">
              <a:rPr lang="tr-TR" smtClean="0"/>
              <a:t>‹#›</a:t>
            </a:fld>
            <a:endParaRPr lang="tr-TR"/>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6116585"/>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133282D-4C6B-1A30-D479-F41FB407EAF3}"/>
              </a:ext>
            </a:extLst>
          </p:cNvPr>
          <p:cNvSpPr>
            <a:spLocks noGrp="1"/>
          </p:cNvSpPr>
          <p:nvPr>
            <p:ph type="ctrTitle"/>
          </p:nvPr>
        </p:nvSpPr>
        <p:spPr/>
        <p:txBody>
          <a:bodyPr>
            <a:normAutofit/>
          </a:bodyPr>
          <a:lstStyle/>
          <a:p>
            <a:r>
              <a:rPr lang="tr-TR" sz="3600" dirty="0"/>
              <a:t>Görüntü işleme teknikleri ve kümeleme yöntemleri kullanılarak fındık meyvesinin tespit ve sınıflandırılması</a:t>
            </a:r>
          </a:p>
        </p:txBody>
      </p:sp>
      <p:sp>
        <p:nvSpPr>
          <p:cNvPr id="3" name="Alt Başlık 2">
            <a:extLst>
              <a:ext uri="{FF2B5EF4-FFF2-40B4-BE49-F238E27FC236}">
                <a16:creationId xmlns:a16="http://schemas.microsoft.com/office/drawing/2014/main" id="{8A816B2F-E5C1-71D2-4DBB-E24A7C03C22C}"/>
              </a:ext>
            </a:extLst>
          </p:cNvPr>
          <p:cNvSpPr>
            <a:spLocks noGrp="1"/>
          </p:cNvSpPr>
          <p:nvPr>
            <p:ph type="subTitle" idx="1"/>
          </p:nvPr>
        </p:nvSpPr>
        <p:spPr/>
        <p:txBody>
          <a:bodyPr/>
          <a:lstStyle/>
          <a:p>
            <a:r>
              <a:rPr lang="tr-TR" dirty="0">
                <a:solidFill>
                  <a:schemeClr val="tx1">
                    <a:lumMod val="85000"/>
                    <a:lumOff val="15000"/>
                  </a:schemeClr>
                </a:solidFill>
              </a:rPr>
              <a:t>SENANUR PAKSOY</a:t>
            </a:r>
          </a:p>
          <a:p>
            <a:r>
              <a:rPr lang="tr-TR" dirty="0">
                <a:solidFill>
                  <a:schemeClr val="tx1">
                    <a:lumMod val="85000"/>
                    <a:lumOff val="15000"/>
                  </a:schemeClr>
                </a:solidFill>
              </a:rPr>
              <a:t>  02185076030</a:t>
            </a:r>
          </a:p>
        </p:txBody>
      </p:sp>
    </p:spTree>
    <p:extLst>
      <p:ext uri="{BB962C8B-B14F-4D97-AF65-F5344CB8AC3E}">
        <p14:creationId xmlns:p14="http://schemas.microsoft.com/office/powerpoint/2010/main" val="4140474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CD48D15F-FE8A-FAC4-32D0-B6596BA24A06}"/>
              </a:ext>
            </a:extLst>
          </p:cNvPr>
          <p:cNvSpPr>
            <a:spLocks noGrp="1"/>
          </p:cNvSpPr>
          <p:nvPr>
            <p:ph idx="1"/>
          </p:nvPr>
        </p:nvSpPr>
        <p:spPr>
          <a:xfrm>
            <a:off x="922527" y="374074"/>
            <a:ext cx="10918491" cy="4789054"/>
          </a:xfrm>
        </p:spPr>
        <p:txBody>
          <a:bodyPr>
            <a:normAutofit fontScale="92500" lnSpcReduction="20000"/>
          </a:bodyPr>
          <a:lstStyle/>
          <a:p>
            <a:endParaRPr lang="tr-TR" sz="2000" dirty="0"/>
          </a:p>
          <a:p>
            <a:pPr marL="91440" marR="0" lvl="0" indent="-91440" algn="l" defTabSz="914400" rtl="0" eaLnBrk="1" fontAlgn="auto" latinLnBrk="0" hangingPunct="1">
              <a:lnSpc>
                <a:spcPct val="90000"/>
              </a:lnSpc>
              <a:spcBef>
                <a:spcPts val="1200"/>
              </a:spcBef>
              <a:spcAft>
                <a:spcPts val="200"/>
              </a:spcAft>
              <a:buClr>
                <a:srgbClr val="1CADE4"/>
              </a:buClr>
              <a:buSzPct val="100000"/>
              <a:buFont typeface="Wingdings" panose="05000000000000000000" pitchFamily="2" charset="2"/>
              <a:buChar char="v"/>
              <a:tabLst/>
              <a:defRPr/>
            </a:pPr>
            <a:r>
              <a:rPr kumimoji="0" lang="tr-TR" sz="2400" b="0" i="0" u="none" strike="noStrike" kern="1200" cap="none" spc="0" normalizeH="0" baseline="0" noProof="0" dirty="0">
                <a:ln>
                  <a:noFill/>
                </a:ln>
                <a:solidFill>
                  <a:prstClr val="black"/>
                </a:solidFill>
                <a:effectLst/>
                <a:uLnTx/>
                <a:uFillTx/>
                <a:latin typeface="Tw Cen MT" panose="020B0602020104020603"/>
                <a:ea typeface="+mn-ea"/>
                <a:cs typeface="+mn-cs"/>
              </a:rPr>
              <a:t> Bilgisayarlı görmenin yaygınlaşması sonucunda, tarım alanında ürün kalitesinin gözlenmesi, ürün sulama, ilaçlama, hasat, ürün sınıflandırma, ürün gelişimlerinin gözlenmesi gibi çalışmalar yapılmaktadır. Ayrıca tarım alanında, görüntü işleme tekniklerinin kullanılması ile yapılan çeşitli çalışmalarda şeftali, elma, buğday, fındık ,kiraz ,ceviz ,badem vb. meyveler sınıflandırılmakta ve özellikleri belirlenmektedir. Bu özelliklerin belirlenmesinde sayısal görüntü analizi, sınıflama, kümeleme gibi yöntemler kullanılarak, araştırılan nesnelerin boyut, cins veya kalite bakımından sınıflandırılması gerçekleştirilmektedir.</a:t>
            </a:r>
          </a:p>
          <a:p>
            <a:pPr marL="91440" marR="0" lvl="0" indent="-91440" algn="l" defTabSz="914400" rtl="0" eaLnBrk="1" fontAlgn="auto" latinLnBrk="0" hangingPunct="1">
              <a:lnSpc>
                <a:spcPct val="90000"/>
              </a:lnSpc>
              <a:spcBef>
                <a:spcPts val="1200"/>
              </a:spcBef>
              <a:spcAft>
                <a:spcPts val="200"/>
              </a:spcAft>
              <a:buClr>
                <a:srgbClr val="1CADE4"/>
              </a:buClr>
              <a:buSzPct val="100000"/>
              <a:buFont typeface="Wingdings" panose="05000000000000000000" pitchFamily="2" charset="2"/>
              <a:buChar char="v"/>
              <a:tabLst/>
              <a:defRPr/>
            </a:pPr>
            <a:r>
              <a:rPr lang="tr-TR" sz="2400" dirty="0"/>
              <a:t> K-</a:t>
            </a:r>
            <a:r>
              <a:rPr lang="tr-TR" sz="2400" dirty="0" err="1"/>
              <a:t>means</a:t>
            </a:r>
            <a:r>
              <a:rPr lang="tr-TR" sz="2400" dirty="0"/>
              <a:t> ve türevleri yaygın olarak kullanılmakta olan kümeleme algoritmalarıdır. K-</a:t>
            </a:r>
            <a:r>
              <a:rPr lang="tr-TR" sz="2400" dirty="0" err="1"/>
              <a:t>means</a:t>
            </a:r>
            <a:r>
              <a:rPr lang="tr-TR" sz="2400" dirty="0"/>
              <a:t> algoritması ile aynı türden nesneler farklı özelliklerine göre, benzer kümelere ayrılmaktadırlar.</a:t>
            </a:r>
          </a:p>
          <a:p>
            <a:pPr marL="91440" marR="0" lvl="0" indent="-91440" algn="l" defTabSz="914400" rtl="0" eaLnBrk="1" fontAlgn="auto" latinLnBrk="0" hangingPunct="1">
              <a:lnSpc>
                <a:spcPct val="90000"/>
              </a:lnSpc>
              <a:spcBef>
                <a:spcPts val="1200"/>
              </a:spcBef>
              <a:spcAft>
                <a:spcPts val="200"/>
              </a:spcAft>
              <a:buClr>
                <a:srgbClr val="1CADE4"/>
              </a:buClr>
              <a:buSzPct val="100000"/>
              <a:buFont typeface="Wingdings" panose="05000000000000000000" pitchFamily="2" charset="2"/>
              <a:buChar char="v"/>
              <a:tabLst/>
              <a:defRPr/>
            </a:pPr>
            <a:r>
              <a:rPr lang="tr-TR" sz="2400" dirty="0"/>
              <a:t> Makalede, çalışma ortamında bulunan nesnelerin tespit edilmesi, özelliklerinin belirlenmesi ve sınıflandırmasına yönelik üç aşamalı bir sistem önerilmektedir. Önerilen sistemin ilk aşamasında kameradan alınan görüntü üzerinde, görüntü ön işleme adımı uygulanmaktadır. İkinci aşamada, ortamda bulunan nesneler tespit edilmekte ve nesnelere ait veriler bilgi </a:t>
            </a:r>
            <a:r>
              <a:rPr lang="tr-TR" sz="2400" dirty="0" err="1"/>
              <a:t>veritabanına</a:t>
            </a:r>
            <a:r>
              <a:rPr lang="tr-TR" sz="2400" dirty="0"/>
              <a:t> aktarılmaktadır. Son aşamada ise bilgi </a:t>
            </a:r>
            <a:r>
              <a:rPr lang="tr-TR" sz="2400" dirty="0" err="1"/>
              <a:t>veritabanı</a:t>
            </a:r>
            <a:r>
              <a:rPr lang="tr-TR" sz="2400" dirty="0"/>
              <a:t> kullanılarak nesnelerin sınıflandırılması gerçekleştirilmektedir.</a:t>
            </a:r>
            <a:endParaRPr kumimoji="0" lang="tr-TR" sz="2400" b="0" i="0" u="none" strike="noStrike" kern="1200" cap="none" spc="0" normalizeH="0" baseline="0" noProof="0" dirty="0">
              <a:ln>
                <a:noFill/>
              </a:ln>
              <a:solidFill>
                <a:prstClr val="black"/>
              </a:solidFill>
              <a:effectLst/>
              <a:uLnTx/>
              <a:uFillTx/>
              <a:ea typeface="+mn-ea"/>
              <a:cs typeface="+mn-cs"/>
            </a:endParaRPr>
          </a:p>
          <a:p>
            <a:endParaRPr lang="tr-TR" sz="2000" dirty="0"/>
          </a:p>
        </p:txBody>
      </p:sp>
    </p:spTree>
    <p:extLst>
      <p:ext uri="{BB962C8B-B14F-4D97-AF65-F5344CB8AC3E}">
        <p14:creationId xmlns:p14="http://schemas.microsoft.com/office/powerpoint/2010/main" val="3863726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2191D5A-067E-6732-56A0-A249CD5ECE42}"/>
              </a:ext>
            </a:extLst>
          </p:cNvPr>
          <p:cNvSpPr>
            <a:spLocks noGrp="1"/>
          </p:cNvSpPr>
          <p:nvPr>
            <p:ph type="title"/>
          </p:nvPr>
        </p:nvSpPr>
        <p:spPr/>
        <p:txBody>
          <a:bodyPr/>
          <a:lstStyle/>
          <a:p>
            <a:r>
              <a:rPr lang="tr-TR" dirty="0"/>
              <a:t>ÖNERİLEN YÖNTEM</a:t>
            </a:r>
          </a:p>
        </p:txBody>
      </p:sp>
      <p:sp>
        <p:nvSpPr>
          <p:cNvPr id="3" name="İçerik Yer Tutucusu 2">
            <a:extLst>
              <a:ext uri="{FF2B5EF4-FFF2-40B4-BE49-F238E27FC236}">
                <a16:creationId xmlns:a16="http://schemas.microsoft.com/office/drawing/2014/main" id="{7D72FF4C-F4C6-AB7E-4B8B-B27157D3F75B}"/>
              </a:ext>
            </a:extLst>
          </p:cNvPr>
          <p:cNvSpPr>
            <a:spLocks noGrp="1"/>
          </p:cNvSpPr>
          <p:nvPr>
            <p:ph idx="1"/>
          </p:nvPr>
        </p:nvSpPr>
        <p:spPr>
          <a:xfrm>
            <a:off x="1024129" y="2285999"/>
            <a:ext cx="7399435" cy="3024909"/>
          </a:xfrm>
        </p:spPr>
        <p:txBody>
          <a:bodyPr/>
          <a:lstStyle/>
          <a:p>
            <a:pPr>
              <a:buFont typeface="Wingdings" panose="05000000000000000000" pitchFamily="2" charset="2"/>
              <a:buChar char="v"/>
            </a:pPr>
            <a:r>
              <a:rPr lang="tr-TR" dirty="0"/>
              <a:t> Nesnelerin bulunduğu ortamdan alınan görüntü, aşama 1 adımında yer alan “Görüntü Ön İşleme” işlemine tabi tutulmaktadır.</a:t>
            </a:r>
          </a:p>
          <a:p>
            <a:pPr>
              <a:buFont typeface="Wingdings" panose="05000000000000000000" pitchFamily="2" charset="2"/>
              <a:buChar char="v"/>
            </a:pPr>
            <a:r>
              <a:rPr lang="tr-TR" dirty="0"/>
              <a:t> Aşama 2’de “Nesne Bulma ve Özellik Çıkarımı İşlemi” ile ortamdaki nesnelerin, boyut ve alan gibi özellikleri çıkartılmaktadır. </a:t>
            </a:r>
          </a:p>
          <a:p>
            <a:pPr>
              <a:buFont typeface="Wingdings" panose="05000000000000000000" pitchFamily="2" charset="2"/>
              <a:buChar char="v"/>
            </a:pPr>
            <a:r>
              <a:rPr lang="tr-TR" dirty="0"/>
              <a:t>Son aşamada ise, aşama 2’de elde edilen veriler kullanılarak her bir nesnenin sınıflandırılması gerçekleştirilmektedir.</a:t>
            </a:r>
          </a:p>
        </p:txBody>
      </p:sp>
      <p:pic>
        <p:nvPicPr>
          <p:cNvPr id="7" name="Resim 6">
            <a:extLst>
              <a:ext uri="{FF2B5EF4-FFF2-40B4-BE49-F238E27FC236}">
                <a16:creationId xmlns:a16="http://schemas.microsoft.com/office/drawing/2014/main" id="{ED0E963F-9BCB-B47F-DCDD-7072704931A3}"/>
              </a:ext>
            </a:extLst>
          </p:cNvPr>
          <p:cNvPicPr>
            <a:picLocks noChangeAspect="1"/>
          </p:cNvPicPr>
          <p:nvPr/>
        </p:nvPicPr>
        <p:blipFill>
          <a:blip r:embed="rId2"/>
          <a:stretch>
            <a:fillRect/>
          </a:stretch>
        </p:blipFill>
        <p:spPr>
          <a:xfrm>
            <a:off x="8251535" y="585216"/>
            <a:ext cx="3413992" cy="5222538"/>
          </a:xfrm>
          <a:prstGeom prst="rect">
            <a:avLst/>
          </a:prstGeom>
        </p:spPr>
      </p:pic>
    </p:spTree>
    <p:extLst>
      <p:ext uri="{BB962C8B-B14F-4D97-AF65-F5344CB8AC3E}">
        <p14:creationId xmlns:p14="http://schemas.microsoft.com/office/powerpoint/2010/main" val="3703539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01F12FC-5CE1-888A-8289-7448E16DEAFB}"/>
              </a:ext>
            </a:extLst>
          </p:cNvPr>
          <p:cNvSpPr>
            <a:spLocks noGrp="1"/>
          </p:cNvSpPr>
          <p:nvPr>
            <p:ph type="title"/>
          </p:nvPr>
        </p:nvSpPr>
        <p:spPr/>
        <p:txBody>
          <a:bodyPr/>
          <a:lstStyle/>
          <a:p>
            <a:r>
              <a:rPr lang="tr-TR" dirty="0"/>
              <a:t>1- </a:t>
            </a:r>
            <a:r>
              <a:rPr lang="tr-TR" b="1" dirty="0">
                <a:latin typeface="+mj-lt"/>
              </a:rPr>
              <a:t>GÖRÜNTÜ ÖN İŞLEME AŞAMASI</a:t>
            </a:r>
            <a:endParaRPr lang="tr-TR" dirty="0"/>
          </a:p>
        </p:txBody>
      </p:sp>
      <p:sp>
        <p:nvSpPr>
          <p:cNvPr id="11" name="Metin kutusu 10">
            <a:extLst>
              <a:ext uri="{FF2B5EF4-FFF2-40B4-BE49-F238E27FC236}">
                <a16:creationId xmlns:a16="http://schemas.microsoft.com/office/drawing/2014/main" id="{C2BFD867-4C0D-D08D-B98A-1720A0D4840D}"/>
              </a:ext>
            </a:extLst>
          </p:cNvPr>
          <p:cNvSpPr txBox="1"/>
          <p:nvPr/>
        </p:nvSpPr>
        <p:spPr>
          <a:xfrm>
            <a:off x="886691" y="2471045"/>
            <a:ext cx="9956800" cy="1006429"/>
          </a:xfrm>
          <a:prstGeom prst="rect">
            <a:avLst/>
          </a:prstGeom>
          <a:noFill/>
        </p:spPr>
        <p:txBody>
          <a:bodyPr wrap="square">
            <a:spAutoFit/>
          </a:bodyPr>
          <a:lstStyle/>
          <a:p>
            <a:pPr marL="91440" marR="0" lvl="0" indent="-91440" algn="l" defTabSz="914400" rtl="0" eaLnBrk="1" fontAlgn="auto" latinLnBrk="0" hangingPunct="1">
              <a:lnSpc>
                <a:spcPct val="90000"/>
              </a:lnSpc>
              <a:spcBef>
                <a:spcPts val="1200"/>
              </a:spcBef>
              <a:spcAft>
                <a:spcPts val="200"/>
              </a:spcAft>
              <a:buClr>
                <a:srgbClr val="1CADE4"/>
              </a:buClr>
              <a:buSzPct val="100000"/>
              <a:buFont typeface="Wingdings" panose="05000000000000000000" pitchFamily="2" charset="2"/>
              <a:buChar char="v"/>
              <a:tabLst/>
              <a:defRPr/>
            </a:pPr>
            <a:r>
              <a:rPr kumimoji="0" lang="tr-TR" sz="2200" b="0" i="0" u="none" strike="noStrike" kern="1200" cap="none" spc="0" normalizeH="0" baseline="0" noProof="0" dirty="0">
                <a:ln>
                  <a:noFill/>
                </a:ln>
                <a:solidFill>
                  <a:prstClr val="black"/>
                </a:solidFill>
                <a:effectLst/>
                <a:uLnTx/>
                <a:uFillTx/>
                <a:latin typeface="Tw Cen MT" panose="020B0602020104020603"/>
                <a:ea typeface="+mn-ea"/>
                <a:cs typeface="+mn-cs"/>
              </a:rPr>
              <a:t> Kameradan alınan görüntü üzerinde sırasıyla filtreleme, resmin grileştirilmesi ve ikili resme çevrilmesi işlemleri uygulanmaktadır. Bu işlemler görüntü üzerinde yer alan ve ilgilenilen nesnelerin daha belirgin ve kolay işlenebilir hale getirilmektedir. </a:t>
            </a:r>
          </a:p>
        </p:txBody>
      </p:sp>
    </p:spTree>
    <p:extLst>
      <p:ext uri="{BB962C8B-B14F-4D97-AF65-F5344CB8AC3E}">
        <p14:creationId xmlns:p14="http://schemas.microsoft.com/office/powerpoint/2010/main" val="2739793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7A16ECE7-24CD-445F-E53E-89C7ECF66A92}"/>
              </a:ext>
            </a:extLst>
          </p:cNvPr>
          <p:cNvSpPr>
            <a:spLocks noGrp="1"/>
          </p:cNvSpPr>
          <p:nvPr>
            <p:ph idx="1"/>
          </p:nvPr>
        </p:nvSpPr>
        <p:spPr>
          <a:xfrm>
            <a:off x="1051091" y="734290"/>
            <a:ext cx="6725180" cy="5777346"/>
          </a:xfrm>
        </p:spPr>
        <p:txBody>
          <a:bodyPr>
            <a:normAutofit/>
          </a:bodyPr>
          <a:lstStyle/>
          <a:p>
            <a:r>
              <a:rPr lang="tr-TR" b="1" dirty="0">
                <a:latin typeface="+mj-lt"/>
              </a:rPr>
              <a:t>GÖRÜNTÜ ÖN İŞLEME AŞAMASI</a:t>
            </a:r>
          </a:p>
          <a:p>
            <a:pPr>
              <a:buFont typeface="Wingdings" panose="05000000000000000000" pitchFamily="2" charset="2"/>
              <a:buChar char="v"/>
            </a:pPr>
            <a:r>
              <a:rPr lang="tr-TR" dirty="0"/>
              <a:t> </a:t>
            </a:r>
            <a:r>
              <a:rPr lang="tr-TR" sz="1600" dirty="0"/>
              <a:t>Filtre uygulama adımında, görüntü üzerinde yer alan tuz biber gürültülerinin giderilmesi ve resimde yer alan gereksiz ayrıntıların azaltılması sağlanmaktadır. Çalışmada, 3x3 boyutlarında çekirdek matrisi kullanan, ortalama filtreleme yöntemi kullanılmaktadır. Çekirdek matrisi, görüntü üzerinde kayan pencere yöntemi kullanılarak gezdirilmekte ve her bir piksel için, yeni değerler hesaplanmaktadır. </a:t>
            </a:r>
          </a:p>
          <a:p>
            <a:pPr marL="0" indent="0">
              <a:buNone/>
            </a:pPr>
            <a:endParaRPr lang="tr-TR" sz="1600" dirty="0"/>
          </a:p>
          <a:p>
            <a:pPr>
              <a:buFont typeface="Wingdings" panose="05000000000000000000" pitchFamily="2" charset="2"/>
              <a:buChar char="v"/>
            </a:pPr>
            <a:r>
              <a:rPr lang="tr-TR" sz="1600" dirty="0"/>
              <a:t>Kameradan alınan görüntü üç kanallı olup RGB (</a:t>
            </a:r>
            <a:r>
              <a:rPr lang="tr-TR" sz="1600" dirty="0" err="1"/>
              <a:t>Red</a:t>
            </a:r>
            <a:r>
              <a:rPr lang="tr-TR" sz="1600" dirty="0"/>
              <a:t>, Gren, Blue) renk uzayında alındığından, IR görüntü matrisinde üç renk için bulunan değerler denklem  kullanılarak güncellenmektedir. Filtreleme işleminden sonra renkli görüntünün, grileştirilmesi adımı gerçekleştirilmektedir. </a:t>
            </a:r>
          </a:p>
          <a:p>
            <a:pPr>
              <a:buFont typeface="Wingdings" panose="05000000000000000000" pitchFamily="2" charset="2"/>
              <a:buChar char="v"/>
            </a:pPr>
            <a:endParaRPr lang="tr-TR" sz="1600" dirty="0"/>
          </a:p>
          <a:p>
            <a:pPr>
              <a:buFont typeface="Wingdings" panose="05000000000000000000" pitchFamily="2" charset="2"/>
              <a:buChar char="v"/>
            </a:pPr>
            <a:r>
              <a:rPr lang="tr-TR" sz="1600" dirty="0"/>
              <a:t>Gri olarak elde edilen görüntü üzerinde, eşikleme işlemi uygulanarak sadece ilgili nesnelere ait yer alan bölümler kullanılmaktadır. Eşikleme işleminde kullanılan en küçük (</a:t>
            </a:r>
            <a:r>
              <a:rPr lang="tr-TR" sz="1600" dirty="0" err="1"/>
              <a:t>min</a:t>
            </a:r>
            <a:r>
              <a:rPr lang="tr-TR" sz="1600" dirty="0"/>
              <a:t>) ve en büyük değerler (</a:t>
            </a:r>
            <a:r>
              <a:rPr lang="tr-TR" sz="1600" dirty="0" err="1"/>
              <a:t>max</a:t>
            </a:r>
            <a:r>
              <a:rPr lang="tr-TR" sz="1600" dirty="0"/>
              <a:t>) deneysel çalışmalar sonucunda belirlenmektedir. Gri görüntü içerisinde yer alan piksel değerleri </a:t>
            </a:r>
            <a:r>
              <a:rPr lang="tr-TR" sz="1600" dirty="0" err="1"/>
              <a:t>min</a:t>
            </a:r>
            <a:r>
              <a:rPr lang="tr-TR" sz="1600" dirty="0"/>
              <a:t> ve </a:t>
            </a:r>
            <a:r>
              <a:rPr lang="tr-TR" sz="1600" dirty="0" err="1"/>
              <a:t>max</a:t>
            </a:r>
            <a:r>
              <a:rPr lang="tr-TR" sz="1600" dirty="0"/>
              <a:t> değerleri arasında bulunup bulunmadığı karşılaştırılarak, ikili görüntü için yeni değer ataması gerçekleştirilmektedir. </a:t>
            </a:r>
            <a:endParaRPr lang="tr-TR" sz="1600" b="1" dirty="0"/>
          </a:p>
          <a:p>
            <a:endParaRPr lang="tr-TR" b="1" dirty="0">
              <a:latin typeface="+mj-lt"/>
            </a:endParaRPr>
          </a:p>
          <a:p>
            <a:pPr>
              <a:buFont typeface="Wingdings" panose="05000000000000000000" pitchFamily="2" charset="2"/>
              <a:buChar char="v"/>
            </a:pPr>
            <a:endParaRPr lang="tr-TR" b="1" dirty="0">
              <a:latin typeface="+mj-lt"/>
            </a:endParaRPr>
          </a:p>
        </p:txBody>
      </p:sp>
      <p:pic>
        <p:nvPicPr>
          <p:cNvPr id="4" name="Resim 3">
            <a:extLst>
              <a:ext uri="{FF2B5EF4-FFF2-40B4-BE49-F238E27FC236}">
                <a16:creationId xmlns:a16="http://schemas.microsoft.com/office/drawing/2014/main" id="{5CF6F96A-AE1B-5448-B8BD-263C86EF45A7}"/>
              </a:ext>
            </a:extLst>
          </p:cNvPr>
          <p:cNvPicPr>
            <a:picLocks noChangeAspect="1"/>
          </p:cNvPicPr>
          <p:nvPr/>
        </p:nvPicPr>
        <p:blipFill rotWithShape="1">
          <a:blip r:embed="rId2"/>
          <a:srcRect l="5108" t="973" r="15142" b="1795"/>
          <a:stretch/>
        </p:blipFill>
        <p:spPr>
          <a:xfrm>
            <a:off x="8193762" y="350982"/>
            <a:ext cx="3536420" cy="5908955"/>
          </a:xfrm>
          <a:prstGeom prst="rect">
            <a:avLst/>
          </a:prstGeom>
        </p:spPr>
      </p:pic>
      <p:pic>
        <p:nvPicPr>
          <p:cNvPr id="6" name="Resim 5">
            <a:extLst>
              <a:ext uri="{FF2B5EF4-FFF2-40B4-BE49-F238E27FC236}">
                <a16:creationId xmlns:a16="http://schemas.microsoft.com/office/drawing/2014/main" id="{5BBFC1E6-C53B-1A52-0645-56351AC1B7A1}"/>
              </a:ext>
            </a:extLst>
          </p:cNvPr>
          <p:cNvPicPr>
            <a:picLocks noChangeAspect="1"/>
          </p:cNvPicPr>
          <p:nvPr/>
        </p:nvPicPr>
        <p:blipFill>
          <a:blip r:embed="rId3"/>
          <a:stretch>
            <a:fillRect/>
          </a:stretch>
        </p:blipFill>
        <p:spPr>
          <a:xfrm>
            <a:off x="4746732" y="3958983"/>
            <a:ext cx="3167456" cy="696144"/>
          </a:xfrm>
          <a:prstGeom prst="rect">
            <a:avLst/>
          </a:prstGeom>
        </p:spPr>
      </p:pic>
      <p:pic>
        <p:nvPicPr>
          <p:cNvPr id="8" name="Resim 7">
            <a:extLst>
              <a:ext uri="{FF2B5EF4-FFF2-40B4-BE49-F238E27FC236}">
                <a16:creationId xmlns:a16="http://schemas.microsoft.com/office/drawing/2014/main" id="{55F552A0-6E61-72D1-EE1D-E18AACA90050}"/>
              </a:ext>
            </a:extLst>
          </p:cNvPr>
          <p:cNvPicPr>
            <a:picLocks noChangeAspect="1"/>
          </p:cNvPicPr>
          <p:nvPr/>
        </p:nvPicPr>
        <p:blipFill rotWithShape="1">
          <a:blip r:embed="rId4"/>
          <a:srcRect b="16402"/>
          <a:stretch/>
        </p:blipFill>
        <p:spPr>
          <a:xfrm>
            <a:off x="3089560" y="2517903"/>
            <a:ext cx="1500154" cy="662104"/>
          </a:xfrm>
          <a:prstGeom prst="rect">
            <a:avLst/>
          </a:prstGeom>
        </p:spPr>
      </p:pic>
      <p:pic>
        <p:nvPicPr>
          <p:cNvPr id="11" name="Resim 10">
            <a:extLst>
              <a:ext uri="{FF2B5EF4-FFF2-40B4-BE49-F238E27FC236}">
                <a16:creationId xmlns:a16="http://schemas.microsoft.com/office/drawing/2014/main" id="{00065B7C-5FB6-F07B-9879-91BC0E818DDD}"/>
              </a:ext>
            </a:extLst>
          </p:cNvPr>
          <p:cNvPicPr>
            <a:picLocks noChangeAspect="1"/>
          </p:cNvPicPr>
          <p:nvPr/>
        </p:nvPicPr>
        <p:blipFill>
          <a:blip r:embed="rId5"/>
          <a:stretch>
            <a:fillRect/>
          </a:stretch>
        </p:blipFill>
        <p:spPr>
          <a:xfrm>
            <a:off x="1953538" y="6040148"/>
            <a:ext cx="3772198" cy="439578"/>
          </a:xfrm>
          <a:prstGeom prst="rect">
            <a:avLst/>
          </a:prstGeom>
        </p:spPr>
      </p:pic>
    </p:spTree>
    <p:extLst>
      <p:ext uri="{BB962C8B-B14F-4D97-AF65-F5344CB8AC3E}">
        <p14:creationId xmlns:p14="http://schemas.microsoft.com/office/powerpoint/2010/main" val="2676335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D683430A-0E71-CC79-3DE6-610B2B29FA39}"/>
              </a:ext>
            </a:extLst>
          </p:cNvPr>
          <p:cNvSpPr>
            <a:spLocks noGrp="1"/>
          </p:cNvSpPr>
          <p:nvPr>
            <p:ph idx="1"/>
          </p:nvPr>
        </p:nvSpPr>
        <p:spPr>
          <a:xfrm>
            <a:off x="950237" y="752764"/>
            <a:ext cx="9720073" cy="4023360"/>
          </a:xfrm>
        </p:spPr>
        <p:txBody>
          <a:bodyPr/>
          <a:lstStyle/>
          <a:p>
            <a:pPr>
              <a:buFont typeface="Wingdings" panose="05000000000000000000" pitchFamily="2" charset="2"/>
              <a:buChar char="v"/>
            </a:pPr>
            <a:r>
              <a:rPr lang="tr-TR" dirty="0"/>
              <a:t> Eşikleme işleminden sonra siyah ve beyaz renkleri içeren görüntü oluşturulmaktadır. Görüntü içerisinde, siyah bölgelerde istenmeyen beyaz noktalar, beyaz bölgelerde istenmeyen siyah noktalar bulunmaktadır. Elde edilen ikili görüntü üzerinde yer alan gürültüleri silmek amacıyla morfolojik işlem uygulanmaktadır. </a:t>
            </a:r>
          </a:p>
          <a:p>
            <a:pPr>
              <a:buFont typeface="Wingdings" panose="05000000000000000000" pitchFamily="2" charset="2"/>
              <a:buChar char="v"/>
            </a:pPr>
            <a:r>
              <a:rPr lang="tr-TR" dirty="0"/>
              <a:t>Önerilen çalışmada, ikili görüntü üzerinde, aşındırma (</a:t>
            </a:r>
            <a:r>
              <a:rPr lang="tr-TR" dirty="0" err="1"/>
              <a:t>erosion</a:t>
            </a:r>
            <a:r>
              <a:rPr lang="tr-TR" dirty="0"/>
              <a:t>) ve genişleme (</a:t>
            </a:r>
            <a:r>
              <a:rPr lang="tr-TR" dirty="0" err="1"/>
              <a:t>dilation</a:t>
            </a:r>
            <a:r>
              <a:rPr lang="tr-TR" dirty="0"/>
              <a:t>) morfolojik işlemleri uygulanmaktadır. </a:t>
            </a:r>
          </a:p>
        </p:txBody>
      </p:sp>
      <p:pic>
        <p:nvPicPr>
          <p:cNvPr id="9" name="Resim 8">
            <a:extLst>
              <a:ext uri="{FF2B5EF4-FFF2-40B4-BE49-F238E27FC236}">
                <a16:creationId xmlns:a16="http://schemas.microsoft.com/office/drawing/2014/main" id="{3B39BA38-7013-A7D3-74D0-2C50C9F32F08}"/>
              </a:ext>
            </a:extLst>
          </p:cNvPr>
          <p:cNvPicPr>
            <a:picLocks noChangeAspect="1"/>
          </p:cNvPicPr>
          <p:nvPr/>
        </p:nvPicPr>
        <p:blipFill>
          <a:blip r:embed="rId2"/>
          <a:stretch>
            <a:fillRect/>
          </a:stretch>
        </p:blipFill>
        <p:spPr>
          <a:xfrm>
            <a:off x="3905380" y="3253510"/>
            <a:ext cx="3991028" cy="1697182"/>
          </a:xfrm>
          <a:prstGeom prst="rect">
            <a:avLst/>
          </a:prstGeom>
        </p:spPr>
      </p:pic>
    </p:spTree>
    <p:extLst>
      <p:ext uri="{BB962C8B-B14F-4D97-AF65-F5344CB8AC3E}">
        <p14:creationId xmlns:p14="http://schemas.microsoft.com/office/powerpoint/2010/main" val="3462186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çerik Yer Tutucusu 3">
            <a:extLst>
              <a:ext uri="{FF2B5EF4-FFF2-40B4-BE49-F238E27FC236}">
                <a16:creationId xmlns:a16="http://schemas.microsoft.com/office/drawing/2014/main" id="{55D54224-300B-4323-1407-307903AAB391}"/>
              </a:ext>
            </a:extLst>
          </p:cNvPr>
          <p:cNvPicPr>
            <a:picLocks noGrp="1" noChangeAspect="1"/>
          </p:cNvPicPr>
          <p:nvPr>
            <p:ph idx="1"/>
          </p:nvPr>
        </p:nvPicPr>
        <p:blipFill rotWithShape="1">
          <a:blip r:embed="rId2"/>
          <a:srcRect t="2984"/>
          <a:stretch/>
        </p:blipFill>
        <p:spPr>
          <a:xfrm>
            <a:off x="1488459" y="749848"/>
            <a:ext cx="4238085" cy="4611164"/>
          </a:xfrm>
          <a:prstGeom prst="rect">
            <a:avLst/>
          </a:prstGeom>
        </p:spPr>
      </p:pic>
      <p:pic>
        <p:nvPicPr>
          <p:cNvPr id="5" name="Resim 4">
            <a:extLst>
              <a:ext uri="{FF2B5EF4-FFF2-40B4-BE49-F238E27FC236}">
                <a16:creationId xmlns:a16="http://schemas.microsoft.com/office/drawing/2014/main" id="{BC096FF8-EE9B-703E-801D-33162D3E820E}"/>
              </a:ext>
            </a:extLst>
          </p:cNvPr>
          <p:cNvPicPr>
            <a:picLocks noChangeAspect="1"/>
          </p:cNvPicPr>
          <p:nvPr/>
        </p:nvPicPr>
        <p:blipFill rotWithShape="1">
          <a:blip r:embed="rId3"/>
          <a:srcRect t="1757"/>
          <a:stretch/>
        </p:blipFill>
        <p:spPr>
          <a:xfrm>
            <a:off x="6548582" y="682868"/>
            <a:ext cx="4238085" cy="4815737"/>
          </a:xfrm>
          <a:prstGeom prst="rect">
            <a:avLst/>
          </a:prstGeom>
        </p:spPr>
      </p:pic>
    </p:spTree>
    <p:extLst>
      <p:ext uri="{BB962C8B-B14F-4D97-AF65-F5344CB8AC3E}">
        <p14:creationId xmlns:p14="http://schemas.microsoft.com/office/powerpoint/2010/main" val="2234477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3BF3D64-2ACD-BB3D-DD40-D91E6A2B8273}"/>
              </a:ext>
            </a:extLst>
          </p:cNvPr>
          <p:cNvSpPr>
            <a:spLocks noGrp="1"/>
          </p:cNvSpPr>
          <p:nvPr>
            <p:ph type="title"/>
          </p:nvPr>
        </p:nvSpPr>
        <p:spPr/>
        <p:txBody>
          <a:bodyPr/>
          <a:lstStyle/>
          <a:p>
            <a:r>
              <a:rPr lang="tr-TR" dirty="0"/>
              <a:t>2- Nesne bulma ve özellik çıkarımı işlemi aşaması</a:t>
            </a:r>
          </a:p>
        </p:txBody>
      </p:sp>
      <p:sp>
        <p:nvSpPr>
          <p:cNvPr id="3" name="İçerik Yer Tutucusu 2">
            <a:extLst>
              <a:ext uri="{FF2B5EF4-FFF2-40B4-BE49-F238E27FC236}">
                <a16:creationId xmlns:a16="http://schemas.microsoft.com/office/drawing/2014/main" id="{4F7DA659-57F6-E251-48F5-D0E139C298D3}"/>
              </a:ext>
            </a:extLst>
          </p:cNvPr>
          <p:cNvSpPr>
            <a:spLocks noGrp="1"/>
          </p:cNvSpPr>
          <p:nvPr>
            <p:ph idx="1"/>
          </p:nvPr>
        </p:nvSpPr>
        <p:spPr>
          <a:xfrm>
            <a:off x="1024128" y="2286000"/>
            <a:ext cx="10225763" cy="3986784"/>
          </a:xfrm>
        </p:spPr>
        <p:txBody>
          <a:bodyPr/>
          <a:lstStyle/>
          <a:p>
            <a:pPr>
              <a:buFont typeface="Wingdings" panose="05000000000000000000" pitchFamily="2" charset="2"/>
              <a:buChar char="v"/>
            </a:pPr>
            <a:r>
              <a:rPr lang="tr-TR" dirty="0"/>
              <a:t> Görüntü ön işleme aşamasından geçirilerek elde edilen ikili görüntü üzerinde nesnelerin bulunması ve her bir nesneye ait özelliklerin çıkarımı işlemleri gerçekleştirilmektedir. Nesnelerin görüntü düzleminde kaplamış olduğu alan, nesne boyları ve nesne merkezine ait koordinatlar özellik çıkarım vektörlerinde bulunmaktadır. </a:t>
            </a:r>
          </a:p>
          <a:p>
            <a:pPr>
              <a:buFont typeface="Wingdings" panose="05000000000000000000" pitchFamily="2" charset="2"/>
              <a:buChar char="v"/>
            </a:pPr>
            <a:r>
              <a:rPr lang="tr-TR" dirty="0"/>
              <a:t>Her bir nesneye ait dış hatlar ve nesne numaraları belirlendikten sonra, nesnenin alanını hesaplamak için moment alma işlemi gerçekleştirilmektedir.</a:t>
            </a:r>
          </a:p>
          <a:p>
            <a:pPr marL="0" indent="0">
              <a:buNone/>
            </a:pPr>
            <a:endParaRPr lang="tr-TR" dirty="0"/>
          </a:p>
        </p:txBody>
      </p:sp>
      <p:pic>
        <p:nvPicPr>
          <p:cNvPr id="5" name="Resim 4">
            <a:extLst>
              <a:ext uri="{FF2B5EF4-FFF2-40B4-BE49-F238E27FC236}">
                <a16:creationId xmlns:a16="http://schemas.microsoft.com/office/drawing/2014/main" id="{A4D1CB64-AB7A-252D-AF75-D5D26EB27458}"/>
              </a:ext>
            </a:extLst>
          </p:cNvPr>
          <p:cNvPicPr>
            <a:picLocks noChangeAspect="1"/>
          </p:cNvPicPr>
          <p:nvPr/>
        </p:nvPicPr>
        <p:blipFill rotWithShape="1">
          <a:blip r:embed="rId2"/>
          <a:srcRect r="3114" b="28093"/>
          <a:stretch/>
        </p:blipFill>
        <p:spPr>
          <a:xfrm>
            <a:off x="3261275" y="4716247"/>
            <a:ext cx="4991248" cy="1010298"/>
          </a:xfrm>
          <a:prstGeom prst="rect">
            <a:avLst/>
          </a:prstGeom>
        </p:spPr>
      </p:pic>
    </p:spTree>
    <p:extLst>
      <p:ext uri="{BB962C8B-B14F-4D97-AF65-F5344CB8AC3E}">
        <p14:creationId xmlns:p14="http://schemas.microsoft.com/office/powerpoint/2010/main" val="519808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D3B2A6D4-82D8-80CB-A1F3-D7D989635BC8}"/>
              </a:ext>
            </a:extLst>
          </p:cNvPr>
          <p:cNvSpPr>
            <a:spLocks noGrp="1"/>
          </p:cNvSpPr>
          <p:nvPr>
            <p:ph idx="1"/>
          </p:nvPr>
        </p:nvSpPr>
        <p:spPr>
          <a:xfrm>
            <a:off x="830165" y="762696"/>
            <a:ext cx="9720073" cy="4880722"/>
          </a:xfrm>
        </p:spPr>
        <p:txBody>
          <a:bodyPr/>
          <a:lstStyle/>
          <a:p>
            <a:pPr>
              <a:buFont typeface="Wingdings" panose="05000000000000000000" pitchFamily="2" charset="2"/>
              <a:buChar char="v"/>
            </a:pPr>
            <a:r>
              <a:rPr lang="tr-TR" dirty="0"/>
              <a:t> İkili görüntü üzerinde yer alan herhangi bir nesneye ait alan değeri denklem 8, x ağırlıklı moment denklem 9 ve y ağırlıklı moment denklem 10 ile hesaplanmaktadır. Bu durumda, ilgili nesnelere ait merkez noktasının x koordinatı denklem 11, merkez noktasına ait y noktasının koordinatı denklem 12’de verilen formüller kullanılarak bulunmaktadır.</a:t>
            </a:r>
          </a:p>
          <a:p>
            <a:pPr>
              <a:buFont typeface="Wingdings" panose="05000000000000000000" pitchFamily="2" charset="2"/>
              <a:buChar char="v"/>
            </a:pPr>
            <a:endParaRPr lang="tr-TR" dirty="0"/>
          </a:p>
          <a:p>
            <a:pPr>
              <a:buFont typeface="Wingdings" panose="05000000000000000000" pitchFamily="2" charset="2"/>
              <a:buChar char="v"/>
            </a:pPr>
            <a:endParaRPr lang="tr-TR" dirty="0"/>
          </a:p>
          <a:p>
            <a:pPr>
              <a:buFont typeface="Wingdings" panose="05000000000000000000" pitchFamily="2" charset="2"/>
              <a:buChar char="v"/>
            </a:pPr>
            <a:endParaRPr lang="tr-TR" dirty="0"/>
          </a:p>
          <a:p>
            <a:pPr>
              <a:buFont typeface="Wingdings" panose="05000000000000000000" pitchFamily="2" charset="2"/>
              <a:buChar char="v"/>
            </a:pPr>
            <a:r>
              <a:rPr lang="tr-TR" dirty="0"/>
              <a:t>Ortamda yer alan nesnelere ait alan ve boyut bilgilerinin cm veya mm cinsinden hesaplanabilmesi amacıyla, A4 kağıdının köşesine 50mm x 50mm boyutlarında referans bir kare çizilmiştir. Referans karesinin alanı piksel cinsinden hesaplanarak, gerçek alana oranlanmaktadır. Bu sayede piksel / mm dönüşüm işlemi program tarafından otomatik olarak gerçekleştirilmektedir.</a:t>
            </a:r>
          </a:p>
        </p:txBody>
      </p:sp>
      <p:pic>
        <p:nvPicPr>
          <p:cNvPr id="7" name="Resim 6">
            <a:extLst>
              <a:ext uri="{FF2B5EF4-FFF2-40B4-BE49-F238E27FC236}">
                <a16:creationId xmlns:a16="http://schemas.microsoft.com/office/drawing/2014/main" id="{8BB70A17-6DC7-B907-9D35-8435AA91AA88}"/>
              </a:ext>
            </a:extLst>
          </p:cNvPr>
          <p:cNvPicPr>
            <a:picLocks noChangeAspect="1"/>
          </p:cNvPicPr>
          <p:nvPr/>
        </p:nvPicPr>
        <p:blipFill>
          <a:blip r:embed="rId2"/>
          <a:stretch>
            <a:fillRect/>
          </a:stretch>
        </p:blipFill>
        <p:spPr>
          <a:xfrm>
            <a:off x="1271712" y="2486890"/>
            <a:ext cx="3866083" cy="1440305"/>
          </a:xfrm>
          <a:prstGeom prst="rect">
            <a:avLst/>
          </a:prstGeom>
        </p:spPr>
      </p:pic>
      <p:pic>
        <p:nvPicPr>
          <p:cNvPr id="9" name="Resim 8">
            <a:extLst>
              <a:ext uri="{FF2B5EF4-FFF2-40B4-BE49-F238E27FC236}">
                <a16:creationId xmlns:a16="http://schemas.microsoft.com/office/drawing/2014/main" id="{C48F3FB7-6FDF-ADB0-2C67-873C26A67C5A}"/>
              </a:ext>
            </a:extLst>
          </p:cNvPr>
          <p:cNvPicPr>
            <a:picLocks noChangeAspect="1"/>
          </p:cNvPicPr>
          <p:nvPr/>
        </p:nvPicPr>
        <p:blipFill>
          <a:blip r:embed="rId3"/>
          <a:stretch>
            <a:fillRect/>
          </a:stretch>
        </p:blipFill>
        <p:spPr>
          <a:xfrm>
            <a:off x="5923945" y="2401327"/>
            <a:ext cx="3495771" cy="1525868"/>
          </a:xfrm>
          <a:prstGeom prst="rect">
            <a:avLst/>
          </a:prstGeom>
        </p:spPr>
      </p:pic>
    </p:spTree>
    <p:extLst>
      <p:ext uri="{BB962C8B-B14F-4D97-AF65-F5344CB8AC3E}">
        <p14:creationId xmlns:p14="http://schemas.microsoft.com/office/powerpoint/2010/main" val="1816219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F98DAB2-C71E-D57D-A029-DEF0D63A9D83}"/>
              </a:ext>
            </a:extLst>
          </p:cNvPr>
          <p:cNvSpPr>
            <a:spLocks noGrp="1"/>
          </p:cNvSpPr>
          <p:nvPr>
            <p:ph type="title"/>
          </p:nvPr>
        </p:nvSpPr>
        <p:spPr>
          <a:xfrm>
            <a:off x="1024128" y="585216"/>
            <a:ext cx="9720072" cy="1271293"/>
          </a:xfrm>
        </p:spPr>
        <p:txBody>
          <a:bodyPr/>
          <a:lstStyle/>
          <a:p>
            <a:r>
              <a:rPr lang="tr-TR" dirty="0"/>
              <a:t>3- </a:t>
            </a:r>
            <a:r>
              <a:rPr lang="tr-TR" sz="4400" dirty="0"/>
              <a:t>Sınıflandırma işlemi aşamasına ait adımlar</a:t>
            </a:r>
          </a:p>
        </p:txBody>
      </p:sp>
      <p:sp>
        <p:nvSpPr>
          <p:cNvPr id="3" name="İçerik Yer Tutucusu 2">
            <a:extLst>
              <a:ext uri="{FF2B5EF4-FFF2-40B4-BE49-F238E27FC236}">
                <a16:creationId xmlns:a16="http://schemas.microsoft.com/office/drawing/2014/main" id="{6A9D468E-AB8E-5C47-0D88-FDA47EDF6135}"/>
              </a:ext>
            </a:extLst>
          </p:cNvPr>
          <p:cNvSpPr>
            <a:spLocks noGrp="1"/>
          </p:cNvSpPr>
          <p:nvPr>
            <p:ph idx="1"/>
          </p:nvPr>
        </p:nvSpPr>
        <p:spPr>
          <a:xfrm>
            <a:off x="1024127" y="1856509"/>
            <a:ext cx="9720073" cy="4416275"/>
          </a:xfrm>
        </p:spPr>
        <p:txBody>
          <a:bodyPr/>
          <a:lstStyle/>
          <a:p>
            <a:r>
              <a:rPr lang="tr-TR" b="1" dirty="0"/>
              <a:t>ORTALAMA TABANLI SINIFLANDIRMA</a:t>
            </a:r>
          </a:p>
          <a:p>
            <a:pPr>
              <a:buFont typeface="Wingdings" panose="05000000000000000000" pitchFamily="2" charset="2"/>
              <a:buChar char="v"/>
            </a:pPr>
            <a:r>
              <a:rPr lang="tr-TR" dirty="0"/>
              <a:t> Nesneleri sınıflandırma aşamasında, ilgili nesnenin alanı ile her bir küme merkezi arasındaki mesafe hesaplanmaktadır. Nesneler kendilerine en yakın noktada bulunan küme merkezlerine yerleştirilerek sınıflandırılmaktadır. </a:t>
            </a:r>
          </a:p>
          <a:p>
            <a:pPr>
              <a:buFont typeface="Wingdings" panose="05000000000000000000" pitchFamily="2" charset="2"/>
              <a:buChar char="v"/>
            </a:pPr>
            <a:endParaRPr lang="tr-TR" dirty="0"/>
          </a:p>
          <a:p>
            <a:pPr marL="0" indent="0">
              <a:buNone/>
            </a:pPr>
            <a:r>
              <a:rPr lang="tr-TR" b="1" dirty="0"/>
              <a:t> K-MEANS KÜMELEME YÖNTEMİ </a:t>
            </a:r>
          </a:p>
          <a:p>
            <a:pPr>
              <a:buFont typeface="Wingdings" panose="05000000000000000000" pitchFamily="2" charset="2"/>
              <a:buChar char="v"/>
            </a:pPr>
            <a:r>
              <a:rPr lang="tr-TR" dirty="0"/>
              <a:t>K-</a:t>
            </a:r>
            <a:r>
              <a:rPr lang="tr-TR" dirty="0" err="1"/>
              <a:t>means</a:t>
            </a:r>
            <a:r>
              <a:rPr lang="tr-TR" dirty="0"/>
              <a:t> kümeleme, karesel hatayı en aza indirgemek için N tane veriyi K adet kümeye bölümlemeyi amaçlamaktadır.</a:t>
            </a:r>
          </a:p>
          <a:p>
            <a:pPr>
              <a:buFont typeface="Wingdings" panose="05000000000000000000" pitchFamily="2" charset="2"/>
              <a:buChar char="v"/>
            </a:pPr>
            <a:r>
              <a:rPr lang="tr-TR" dirty="0"/>
              <a:t> K-</a:t>
            </a:r>
            <a:r>
              <a:rPr lang="tr-TR" dirty="0" err="1"/>
              <a:t>means</a:t>
            </a:r>
            <a:r>
              <a:rPr lang="tr-TR" dirty="0"/>
              <a:t> algoritmasının temel amacı bölümleme sonucunda elde edilen küme içindeki verilerin benzerliklerinin maksimum, kümeler arasındaki benzerliklerin ise minimum olmasıdır. </a:t>
            </a:r>
          </a:p>
          <a:p>
            <a:pPr marL="0" indent="0">
              <a:buNone/>
            </a:pPr>
            <a:endParaRPr lang="tr-TR" dirty="0"/>
          </a:p>
          <a:p>
            <a:pPr marL="0" indent="0">
              <a:buNone/>
            </a:pPr>
            <a:endParaRPr lang="tr-TR" b="1" dirty="0"/>
          </a:p>
        </p:txBody>
      </p:sp>
      <p:pic>
        <p:nvPicPr>
          <p:cNvPr id="5" name="Resim 4">
            <a:extLst>
              <a:ext uri="{FF2B5EF4-FFF2-40B4-BE49-F238E27FC236}">
                <a16:creationId xmlns:a16="http://schemas.microsoft.com/office/drawing/2014/main" id="{1F606D53-65F8-D234-0F51-806806D9574D}"/>
              </a:ext>
            </a:extLst>
          </p:cNvPr>
          <p:cNvPicPr>
            <a:picLocks noChangeAspect="1"/>
          </p:cNvPicPr>
          <p:nvPr/>
        </p:nvPicPr>
        <p:blipFill>
          <a:blip r:embed="rId2"/>
          <a:stretch>
            <a:fillRect/>
          </a:stretch>
        </p:blipFill>
        <p:spPr>
          <a:xfrm>
            <a:off x="4963212" y="3259819"/>
            <a:ext cx="1841901" cy="709303"/>
          </a:xfrm>
          <a:prstGeom prst="rect">
            <a:avLst/>
          </a:prstGeom>
        </p:spPr>
      </p:pic>
    </p:spTree>
    <p:extLst>
      <p:ext uri="{BB962C8B-B14F-4D97-AF65-F5344CB8AC3E}">
        <p14:creationId xmlns:p14="http://schemas.microsoft.com/office/powerpoint/2010/main" val="3642407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68A0D671-5F2F-2DBC-7363-FE5E01195E25}"/>
              </a:ext>
            </a:extLst>
          </p:cNvPr>
          <p:cNvSpPr>
            <a:spLocks noGrp="1"/>
          </p:cNvSpPr>
          <p:nvPr>
            <p:ph idx="1"/>
          </p:nvPr>
        </p:nvSpPr>
        <p:spPr>
          <a:xfrm>
            <a:off x="820928" y="763846"/>
            <a:ext cx="10955435" cy="5941753"/>
          </a:xfrm>
        </p:spPr>
        <p:txBody>
          <a:bodyPr>
            <a:normAutofit fontScale="92500"/>
          </a:bodyPr>
          <a:lstStyle/>
          <a:p>
            <a:pPr>
              <a:buFont typeface="Wingdings" panose="05000000000000000000" pitchFamily="2" charset="2"/>
              <a:buChar char="v"/>
            </a:pPr>
            <a:r>
              <a:rPr lang="tr-TR" dirty="0"/>
              <a:t> K-</a:t>
            </a:r>
            <a:r>
              <a:rPr lang="tr-TR" dirty="0" err="1"/>
              <a:t>means</a:t>
            </a:r>
            <a:r>
              <a:rPr lang="tr-TR" dirty="0"/>
              <a:t> algoritmasının çalışma sürecini maddeler halinde sunulan 4 aşamada ifade edilmektedir. </a:t>
            </a:r>
          </a:p>
          <a:p>
            <a:pPr>
              <a:buFont typeface="Wingdings" panose="05000000000000000000" pitchFamily="2" charset="2"/>
              <a:buChar char="Ø"/>
            </a:pPr>
            <a:r>
              <a:rPr lang="tr-TR" dirty="0"/>
              <a:t>İlk olarak, K adet küme için rastgele başlangıç küme merkezleri belirlenmektedir, </a:t>
            </a:r>
          </a:p>
          <a:p>
            <a:pPr>
              <a:buFont typeface="Wingdings" panose="05000000000000000000" pitchFamily="2" charset="2"/>
              <a:buChar char="Ø"/>
            </a:pPr>
            <a:r>
              <a:rPr lang="tr-TR" dirty="0"/>
              <a:t>Her nesnenin seçilmiş olan küme merkez noktalarına olan uzaklığı hesaplanmaktadır. Küme merkez noktalarına olan uzaklıklarına göre tüm nesneler k adet kümeden en yakın olan kümeye yerleştirilmektedir, </a:t>
            </a:r>
          </a:p>
          <a:p>
            <a:pPr>
              <a:buFont typeface="Wingdings" panose="05000000000000000000" pitchFamily="2" charset="2"/>
              <a:buChar char="Ø"/>
            </a:pPr>
            <a:r>
              <a:rPr lang="tr-TR" dirty="0"/>
              <a:t>Yeni oluşan kümelerin merkez noktaları, o kümedeki tüm nesnelerin ortalama değerlerinden elde edilmiş veriye göre değiştirilmektedir, </a:t>
            </a:r>
          </a:p>
          <a:p>
            <a:pPr>
              <a:buFont typeface="Wingdings" panose="05000000000000000000" pitchFamily="2" charset="2"/>
              <a:buChar char="Ø"/>
            </a:pPr>
            <a:r>
              <a:rPr lang="tr-TR" dirty="0"/>
              <a:t>Küme merkez noktaları sabit olmadığı sürece 2. ve 3. adımlar tekrarlanmaktadır.</a:t>
            </a:r>
          </a:p>
          <a:p>
            <a:pPr>
              <a:buFont typeface="Wingdings" panose="05000000000000000000" pitchFamily="2" charset="2"/>
              <a:buChar char="v"/>
            </a:pPr>
            <a:r>
              <a:rPr lang="tr-TR" dirty="0"/>
              <a:t> Bu çalışmada nesneleri kümeleme işlemi aşamasında benzerliklerinden yararlanılmıştır. Nesnelerin küme merkezlerine uzaklıklarının hesaplanmasında ve kümeleme işleminin gerçekleştirilmesinde Denklem 16'da gösterilmekte olan </a:t>
            </a:r>
            <a:r>
              <a:rPr lang="tr-TR" dirty="0" err="1"/>
              <a:t>Euclidean</a:t>
            </a:r>
            <a:r>
              <a:rPr lang="tr-TR" dirty="0"/>
              <a:t> mesafe ölçümü kullanılmaktadır. </a:t>
            </a:r>
          </a:p>
          <a:p>
            <a:pPr>
              <a:buFont typeface="Wingdings" panose="05000000000000000000" pitchFamily="2" charset="2"/>
              <a:buChar char="v"/>
            </a:pPr>
            <a:r>
              <a:rPr lang="tr-TR" dirty="0"/>
              <a:t> Görüntü ön işleme, nesne bulma ve özellik çıkartımı ile elde edilmiş olan nesnelerin, piksel olarak hesaplanmış olan alan verileri kullanılarak bilgi </a:t>
            </a:r>
            <a:r>
              <a:rPr lang="tr-TR" dirty="0" err="1"/>
              <a:t>veritabanı</a:t>
            </a:r>
            <a:r>
              <a:rPr lang="tr-TR" dirty="0"/>
              <a:t> oluşturulmaktadır. Bilgi </a:t>
            </a:r>
            <a:r>
              <a:rPr lang="tr-TR" dirty="0" err="1"/>
              <a:t>veritabanında</a:t>
            </a:r>
            <a:r>
              <a:rPr lang="tr-TR" dirty="0"/>
              <a:t> toplanmış olan veriler K-</a:t>
            </a:r>
            <a:r>
              <a:rPr lang="tr-TR" dirty="0" err="1"/>
              <a:t>means</a:t>
            </a:r>
            <a:r>
              <a:rPr lang="tr-TR" dirty="0"/>
              <a:t> kümeleme yöntemi kullanılarak 3 kümeye ayrılmakta ve bu kümelerin merkez noktaları belirlenmektedir. Çalışmaya yeni bir veri seti eklendiğinde gerçek zamanlı olarak, eklenen veri setindeki nesnelerin alanları piksel cinsinden hesaplanmaktadır. Hesaplanan nesne alanlarının, küme merkezlerine uzaklığı </a:t>
            </a:r>
            <a:r>
              <a:rPr lang="tr-TR" dirty="0" err="1"/>
              <a:t>Euclidean</a:t>
            </a:r>
            <a:r>
              <a:rPr lang="tr-TR" dirty="0"/>
              <a:t> yöntemi kullanılarak bulunmaktadır. Hesaplanan </a:t>
            </a:r>
            <a:r>
              <a:rPr lang="tr-TR" dirty="0" err="1"/>
              <a:t>Euclidean</a:t>
            </a:r>
            <a:r>
              <a:rPr lang="tr-TR" dirty="0"/>
              <a:t> uzaklıkları arasında en düşük olan değer hangi kümeye aitse, nesne o kümeye yerleştirilmektedir.</a:t>
            </a:r>
          </a:p>
        </p:txBody>
      </p:sp>
      <p:pic>
        <p:nvPicPr>
          <p:cNvPr id="5" name="Resim 4">
            <a:extLst>
              <a:ext uri="{FF2B5EF4-FFF2-40B4-BE49-F238E27FC236}">
                <a16:creationId xmlns:a16="http://schemas.microsoft.com/office/drawing/2014/main" id="{27B6E2E6-3146-A5CE-2BDC-0CB4AD853981}"/>
              </a:ext>
            </a:extLst>
          </p:cNvPr>
          <p:cNvPicPr>
            <a:picLocks noChangeAspect="1"/>
          </p:cNvPicPr>
          <p:nvPr/>
        </p:nvPicPr>
        <p:blipFill>
          <a:blip r:embed="rId2"/>
          <a:stretch>
            <a:fillRect/>
          </a:stretch>
        </p:blipFill>
        <p:spPr>
          <a:xfrm>
            <a:off x="7233434" y="4175165"/>
            <a:ext cx="4183156" cy="489199"/>
          </a:xfrm>
          <a:prstGeom prst="rect">
            <a:avLst/>
          </a:prstGeom>
        </p:spPr>
      </p:pic>
    </p:spTree>
    <p:extLst>
      <p:ext uri="{BB962C8B-B14F-4D97-AF65-F5344CB8AC3E}">
        <p14:creationId xmlns:p14="http://schemas.microsoft.com/office/powerpoint/2010/main" val="2006645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1FD9186-F3AF-9BBD-712D-73E510B4D85A}"/>
              </a:ext>
            </a:extLst>
          </p:cNvPr>
          <p:cNvSpPr>
            <a:spLocks noGrp="1"/>
          </p:cNvSpPr>
          <p:nvPr>
            <p:ph type="title"/>
          </p:nvPr>
        </p:nvSpPr>
        <p:spPr/>
        <p:txBody>
          <a:bodyPr/>
          <a:lstStyle/>
          <a:p>
            <a:r>
              <a:rPr lang="tr-TR" dirty="0">
                <a:latin typeface="Bell MT" panose="02020503060305020303" pitchFamily="18" charset="0"/>
              </a:rPr>
              <a:t>DENEYSEL ÇALIŞMA</a:t>
            </a:r>
          </a:p>
        </p:txBody>
      </p:sp>
      <p:sp>
        <p:nvSpPr>
          <p:cNvPr id="3" name="İçerik Yer Tutucusu 2">
            <a:extLst>
              <a:ext uri="{FF2B5EF4-FFF2-40B4-BE49-F238E27FC236}">
                <a16:creationId xmlns:a16="http://schemas.microsoft.com/office/drawing/2014/main" id="{DFC1111E-1ADC-4685-4073-5C646F8FBAF8}"/>
              </a:ext>
            </a:extLst>
          </p:cNvPr>
          <p:cNvSpPr>
            <a:spLocks noGrp="1"/>
          </p:cNvSpPr>
          <p:nvPr>
            <p:ph idx="1"/>
          </p:nvPr>
        </p:nvSpPr>
        <p:spPr>
          <a:xfrm>
            <a:off x="1024128" y="1884218"/>
            <a:ext cx="10493617" cy="4388566"/>
          </a:xfrm>
        </p:spPr>
        <p:txBody>
          <a:bodyPr>
            <a:normAutofit/>
          </a:bodyPr>
          <a:lstStyle/>
          <a:p>
            <a:pPr>
              <a:buFont typeface="Wingdings" panose="05000000000000000000" pitchFamily="2" charset="2"/>
              <a:buChar char="v"/>
            </a:pPr>
            <a:r>
              <a:rPr lang="tr-TR" dirty="0"/>
              <a:t> Çalışmada 1.3 Megapiksel CMOS, 640 x 480 çözünürlükteki </a:t>
            </a:r>
            <a:r>
              <a:rPr lang="tr-TR" dirty="0" err="1"/>
              <a:t>Logitech</a:t>
            </a:r>
            <a:r>
              <a:rPr lang="tr-TR" dirty="0"/>
              <a:t> C110 USB kamera kullanılarak görüntüler alınmaktadır. Alınan görüntüler, Ubuntu 12.04 işletim sistemine sahip bir bilgisayar üzerinde işlenmektedir. Görüntülerin işlenmesi ve sınıflandırılması aşamalarında </a:t>
            </a:r>
            <a:r>
              <a:rPr lang="tr-TR" dirty="0" err="1"/>
              <a:t>OpenCV</a:t>
            </a:r>
            <a:r>
              <a:rPr lang="tr-TR" dirty="0"/>
              <a:t> Kütüphanesi ve </a:t>
            </a:r>
            <a:r>
              <a:rPr lang="tr-TR" dirty="0" err="1"/>
              <a:t>Weka</a:t>
            </a:r>
            <a:r>
              <a:rPr lang="tr-TR" dirty="0"/>
              <a:t> yazılımları kullanılmaktadır.</a:t>
            </a:r>
          </a:p>
          <a:p>
            <a:pPr>
              <a:buFont typeface="Wingdings" panose="05000000000000000000" pitchFamily="2" charset="2"/>
              <a:buChar char="v"/>
            </a:pPr>
            <a:r>
              <a:rPr lang="tr-TR" dirty="0"/>
              <a:t> Kameradan alınan ham görüntüde, çalışma alanı dışında kalan dörtgenin bulunduğu alan kesilmiştir. Bu işlemden sonra görüntü ön işleme aşamasına geçilmektedir. Görüntü ön işleme aşamasında, resim üzerinde filtreleme, grileştirme, </a:t>
            </a:r>
            <a:r>
              <a:rPr lang="tr-TR" dirty="0" err="1"/>
              <a:t>eşikleşme</a:t>
            </a:r>
            <a:r>
              <a:rPr lang="tr-TR" dirty="0"/>
              <a:t> ve morfolojik işlem uygulanmaktadır. Bu işlem basamakları sonucunda elde edilen görüntü Bu görüntü nesne bulma ve özellik belirleme aşamasına girdi olarak verilmektedir. Ortamda bulunan ve ilgilenilen nesnelerin dış hatları belirlenmektedir. Çalışmada kullanılacak alan, çap, yarıçap ve merkez noktasına ait koordinatlar elde edilmektedir. Şekil 6 (c)’de ortamda bulunan nesnelerin dış hatları ve indis numaraları sunulmaktadır.</a:t>
            </a:r>
          </a:p>
        </p:txBody>
      </p:sp>
    </p:spTree>
    <p:extLst>
      <p:ext uri="{BB962C8B-B14F-4D97-AF65-F5344CB8AC3E}">
        <p14:creationId xmlns:p14="http://schemas.microsoft.com/office/powerpoint/2010/main" val="11964829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a:extLst>
              <a:ext uri="{FF2B5EF4-FFF2-40B4-BE49-F238E27FC236}">
                <a16:creationId xmlns:a16="http://schemas.microsoft.com/office/drawing/2014/main" id="{37F5DF0F-B1DE-0085-C4EA-CB4C9D7E2456}"/>
              </a:ext>
            </a:extLst>
          </p:cNvPr>
          <p:cNvPicPr>
            <a:picLocks noChangeAspect="1"/>
          </p:cNvPicPr>
          <p:nvPr/>
        </p:nvPicPr>
        <p:blipFill rotWithShape="1">
          <a:blip r:embed="rId2"/>
          <a:srcRect t="1121"/>
          <a:stretch/>
        </p:blipFill>
        <p:spPr>
          <a:xfrm>
            <a:off x="1729681" y="840061"/>
            <a:ext cx="9169228" cy="5177877"/>
          </a:xfrm>
          <a:prstGeom prst="rect">
            <a:avLst/>
          </a:prstGeom>
        </p:spPr>
      </p:pic>
    </p:spTree>
    <p:extLst>
      <p:ext uri="{BB962C8B-B14F-4D97-AF65-F5344CB8AC3E}">
        <p14:creationId xmlns:p14="http://schemas.microsoft.com/office/powerpoint/2010/main" val="27948737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2BFC600-75DF-5AEF-A6AD-A9974FA1D558}"/>
              </a:ext>
            </a:extLst>
          </p:cNvPr>
          <p:cNvSpPr>
            <a:spLocks noGrp="1"/>
          </p:cNvSpPr>
          <p:nvPr>
            <p:ph idx="1"/>
          </p:nvPr>
        </p:nvSpPr>
        <p:spPr>
          <a:xfrm>
            <a:off x="1024129" y="729674"/>
            <a:ext cx="7856405" cy="5551054"/>
          </a:xfrm>
        </p:spPr>
        <p:txBody>
          <a:bodyPr/>
          <a:lstStyle/>
          <a:p>
            <a:pPr>
              <a:buFont typeface="Wingdings" panose="05000000000000000000" pitchFamily="2" charset="2"/>
              <a:buChar char="v"/>
            </a:pPr>
            <a:r>
              <a:rPr lang="tr-TR" dirty="0"/>
              <a:t> Ortalama tabanlı ve K-</a:t>
            </a:r>
            <a:r>
              <a:rPr lang="tr-TR" dirty="0" err="1"/>
              <a:t>means</a:t>
            </a:r>
            <a:r>
              <a:rPr lang="tr-TR" dirty="0"/>
              <a:t> algoritmasına göre kümeleme işleminde, piksel cinsinden bulunan alan değerleri kullanılarak küme merkezleri elde edilmektedir. Küme merkezleri elde edilirken çalışma ortamına 150 adet fındık yerleştirilerek bilgi </a:t>
            </a:r>
            <a:r>
              <a:rPr lang="tr-TR" dirty="0" err="1"/>
              <a:t>veritabanı</a:t>
            </a:r>
            <a:r>
              <a:rPr lang="tr-TR" dirty="0"/>
              <a:t> oluşturulmaktadır. </a:t>
            </a:r>
          </a:p>
          <a:p>
            <a:pPr>
              <a:buFont typeface="Wingdings" panose="05000000000000000000" pitchFamily="2" charset="2"/>
              <a:buChar char="v"/>
            </a:pPr>
            <a:r>
              <a:rPr lang="tr-TR" dirty="0"/>
              <a:t>Deneysel çalışmada, ortalama tabanlı yöntem kullanılarak 3 adet küçük, 12 adet orta ve 10 adet büyük sınıf fındık bulunmaktadır. K-</a:t>
            </a:r>
            <a:r>
              <a:rPr lang="tr-TR" dirty="0" err="1"/>
              <a:t>means</a:t>
            </a:r>
            <a:r>
              <a:rPr lang="tr-TR" dirty="0"/>
              <a:t> algoritması kullanılarak yapılan kümelemede 3 adet küçük, 10 adet orta, 12 adet büyük fındık tespit edilmektedir.</a:t>
            </a:r>
          </a:p>
          <a:p>
            <a:pPr>
              <a:buFont typeface="Wingdings" panose="05000000000000000000" pitchFamily="2" charset="2"/>
              <a:buChar char="v"/>
            </a:pPr>
            <a:r>
              <a:rPr lang="tr-TR" dirty="0"/>
              <a:t>Sunulan örnek çalışmada, iki yöntem ile kümelemenin %92 oranda benzerlik gösterdiği gözlenmektedir.</a:t>
            </a:r>
          </a:p>
          <a:p>
            <a:pPr marL="0" indent="0">
              <a:buNone/>
            </a:pPr>
            <a:endParaRPr lang="tr-TR" dirty="0"/>
          </a:p>
          <a:p>
            <a:pPr>
              <a:buFont typeface="Wingdings" panose="05000000000000000000" pitchFamily="2" charset="2"/>
              <a:buChar char="v"/>
            </a:pPr>
            <a:endParaRPr lang="tr-TR" dirty="0"/>
          </a:p>
        </p:txBody>
      </p:sp>
      <p:pic>
        <p:nvPicPr>
          <p:cNvPr id="5" name="Resim 4">
            <a:extLst>
              <a:ext uri="{FF2B5EF4-FFF2-40B4-BE49-F238E27FC236}">
                <a16:creationId xmlns:a16="http://schemas.microsoft.com/office/drawing/2014/main" id="{56BA846F-78B4-2E63-0AED-4227FDB1D270}"/>
              </a:ext>
            </a:extLst>
          </p:cNvPr>
          <p:cNvPicPr>
            <a:picLocks noChangeAspect="1"/>
          </p:cNvPicPr>
          <p:nvPr/>
        </p:nvPicPr>
        <p:blipFill>
          <a:blip r:embed="rId2"/>
          <a:stretch>
            <a:fillRect/>
          </a:stretch>
        </p:blipFill>
        <p:spPr>
          <a:xfrm>
            <a:off x="8880534" y="327890"/>
            <a:ext cx="3311466" cy="1551708"/>
          </a:xfrm>
          <a:prstGeom prst="rect">
            <a:avLst/>
          </a:prstGeom>
        </p:spPr>
      </p:pic>
      <p:pic>
        <p:nvPicPr>
          <p:cNvPr id="7" name="Resim 6">
            <a:extLst>
              <a:ext uri="{FF2B5EF4-FFF2-40B4-BE49-F238E27FC236}">
                <a16:creationId xmlns:a16="http://schemas.microsoft.com/office/drawing/2014/main" id="{6F454643-6686-C071-3ED2-E6BA6B550F34}"/>
              </a:ext>
            </a:extLst>
          </p:cNvPr>
          <p:cNvPicPr>
            <a:picLocks noChangeAspect="1"/>
          </p:cNvPicPr>
          <p:nvPr/>
        </p:nvPicPr>
        <p:blipFill>
          <a:blip r:embed="rId3"/>
          <a:stretch>
            <a:fillRect/>
          </a:stretch>
        </p:blipFill>
        <p:spPr>
          <a:xfrm>
            <a:off x="8880534" y="2059728"/>
            <a:ext cx="3154448" cy="4698984"/>
          </a:xfrm>
          <a:prstGeom prst="rect">
            <a:avLst/>
          </a:prstGeom>
        </p:spPr>
      </p:pic>
    </p:spTree>
    <p:extLst>
      <p:ext uri="{BB962C8B-B14F-4D97-AF65-F5344CB8AC3E}">
        <p14:creationId xmlns:p14="http://schemas.microsoft.com/office/powerpoint/2010/main" val="12068337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302F9DC-4E86-9775-A9D8-D1DEC362EAD2}"/>
              </a:ext>
            </a:extLst>
          </p:cNvPr>
          <p:cNvSpPr>
            <a:spLocks noGrp="1"/>
          </p:cNvSpPr>
          <p:nvPr>
            <p:ph type="title"/>
          </p:nvPr>
        </p:nvSpPr>
        <p:spPr/>
        <p:txBody>
          <a:bodyPr/>
          <a:lstStyle/>
          <a:p>
            <a:r>
              <a:rPr lang="tr-TR" dirty="0">
                <a:latin typeface="Bell MT" panose="02020503060305020303" pitchFamily="18" charset="0"/>
              </a:rPr>
              <a:t>sonuçlar</a:t>
            </a:r>
          </a:p>
        </p:txBody>
      </p:sp>
      <p:sp>
        <p:nvSpPr>
          <p:cNvPr id="3" name="İçerik Yer Tutucusu 2">
            <a:extLst>
              <a:ext uri="{FF2B5EF4-FFF2-40B4-BE49-F238E27FC236}">
                <a16:creationId xmlns:a16="http://schemas.microsoft.com/office/drawing/2014/main" id="{80CFD3BC-CE40-4A71-B1B0-E47ABF60CE93}"/>
              </a:ext>
            </a:extLst>
          </p:cNvPr>
          <p:cNvSpPr>
            <a:spLocks noGrp="1"/>
          </p:cNvSpPr>
          <p:nvPr>
            <p:ph idx="1"/>
          </p:nvPr>
        </p:nvSpPr>
        <p:spPr>
          <a:xfrm>
            <a:off x="1024128" y="1911927"/>
            <a:ext cx="10622927" cy="4756727"/>
          </a:xfrm>
        </p:spPr>
        <p:txBody>
          <a:bodyPr/>
          <a:lstStyle/>
          <a:p>
            <a:pPr>
              <a:buFont typeface="Wingdings" panose="05000000000000000000" pitchFamily="2" charset="2"/>
              <a:buChar char="v"/>
            </a:pPr>
            <a:r>
              <a:rPr lang="tr-TR" dirty="0"/>
              <a:t>Çalışma ortamında bulunan nesnelerin tespit ve sınıflandırılması amacıyla üç aşamalı bir yöntem önerilmektedir. Önerilen yöntemin ilk aşaması olan görüntü ön işleme bölümünde kameradan alınan görüntü üzerinde filtreleme, grileştirme, ikili resme çevirme ve morfolojik işlemler uygulanmaktadır. Nesne tespiti ve özellik çıkarımı aşamasında ise, ortamda yer alan nesnelerin bulunması ve alan, boyut ve konum gibi özellik bilgileri elde edilmektedir. Sınıflandırma aşamasında, bilgi </a:t>
            </a:r>
            <a:r>
              <a:rPr lang="tr-TR" dirty="0" err="1"/>
              <a:t>veritabanında</a:t>
            </a:r>
            <a:r>
              <a:rPr lang="tr-TR" dirty="0"/>
              <a:t> bulunan veriler, ortalama tabanlı ve K-</a:t>
            </a:r>
            <a:r>
              <a:rPr lang="tr-TR" dirty="0" err="1"/>
              <a:t>means</a:t>
            </a:r>
            <a:r>
              <a:rPr lang="tr-TR" dirty="0"/>
              <a:t> algoritmaları kullanılarak sınıflandırılmaktadır. </a:t>
            </a:r>
          </a:p>
          <a:p>
            <a:pPr>
              <a:buFont typeface="Wingdings" panose="05000000000000000000" pitchFamily="2" charset="2"/>
              <a:buChar char="v"/>
            </a:pPr>
            <a:r>
              <a:rPr lang="tr-TR" dirty="0"/>
              <a:t>Deneysel çalışma bölümünde örnekleme işlemi için fındık meyvesi kullanılmaktadır. Çalışma ortamında bulunan fındık meyveleri gerçek zamanlı olarak %100 başarımla tespit edilmektedir. Ortalama tabanlı ve K-</a:t>
            </a:r>
            <a:r>
              <a:rPr lang="tr-TR" dirty="0" err="1"/>
              <a:t>means</a:t>
            </a:r>
            <a:r>
              <a:rPr lang="tr-TR" dirty="0"/>
              <a:t> kümeleme yöntemleri kullanılarak fındık meyvelerinin küçük, orta ve büyük olarak sınıflandırılması gerçekleştirilmektedir. Yapılan deneysel çalışmalarda, gerçeklenen iki algoritma ile sınıflandırmanın %90 ile %100 oranlarında benzerlik gösterdiği tespit edilmektedir.</a:t>
            </a:r>
          </a:p>
        </p:txBody>
      </p:sp>
    </p:spTree>
    <p:extLst>
      <p:ext uri="{BB962C8B-B14F-4D97-AF65-F5344CB8AC3E}">
        <p14:creationId xmlns:p14="http://schemas.microsoft.com/office/powerpoint/2010/main" val="38056377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çerik Yer Tutucusu 2">
            <a:extLst>
              <a:ext uri="{FF2B5EF4-FFF2-40B4-BE49-F238E27FC236}">
                <a16:creationId xmlns:a16="http://schemas.microsoft.com/office/drawing/2014/main" id="{855108BF-45B6-24A9-10B3-04706EA1A7AA}"/>
              </a:ext>
            </a:extLst>
          </p:cNvPr>
          <p:cNvSpPr>
            <a:spLocks noGrp="1"/>
          </p:cNvSpPr>
          <p:nvPr>
            <p:ph idx="1"/>
          </p:nvPr>
        </p:nvSpPr>
        <p:spPr>
          <a:xfrm>
            <a:off x="789277" y="798802"/>
            <a:ext cx="9601200" cy="3581400"/>
          </a:xfrm>
        </p:spPr>
        <p:txBody>
          <a:bodyPr/>
          <a:lstStyle/>
          <a:p>
            <a:pPr marL="0" indent="0">
              <a:buNone/>
            </a:pPr>
            <a:r>
              <a:rPr lang="tr-TR" sz="2800" b="1" dirty="0"/>
              <a:t>KAYNAKÇA</a:t>
            </a:r>
          </a:p>
          <a:p>
            <a:r>
              <a:rPr lang="tr-TR" dirty="0"/>
              <a:t>https://dergipark.org.tr/tr/download/article-file/340880</a:t>
            </a:r>
          </a:p>
        </p:txBody>
      </p:sp>
    </p:spTree>
    <p:extLst>
      <p:ext uri="{BB962C8B-B14F-4D97-AF65-F5344CB8AC3E}">
        <p14:creationId xmlns:p14="http://schemas.microsoft.com/office/powerpoint/2010/main" val="21344690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çerik Yer Tutucusu 2">
            <a:extLst>
              <a:ext uri="{FF2B5EF4-FFF2-40B4-BE49-F238E27FC236}">
                <a16:creationId xmlns:a16="http://schemas.microsoft.com/office/drawing/2014/main" id="{F338E9C9-1DD8-F6E5-2F28-FED3EFC36339}"/>
              </a:ext>
            </a:extLst>
          </p:cNvPr>
          <p:cNvSpPr>
            <a:spLocks noGrp="1"/>
          </p:cNvSpPr>
          <p:nvPr>
            <p:ph idx="1"/>
          </p:nvPr>
        </p:nvSpPr>
        <p:spPr>
          <a:xfrm>
            <a:off x="787401" y="789854"/>
            <a:ext cx="9601200" cy="3581400"/>
          </a:xfrm>
        </p:spPr>
        <p:txBody>
          <a:bodyPr>
            <a:normAutofit/>
          </a:bodyPr>
          <a:lstStyle/>
          <a:p>
            <a:r>
              <a:rPr lang="tr-TR" sz="2800" b="1" dirty="0"/>
              <a:t>DİNLEDİĞİNİZ İÇİN TEŞEKKÜR EDERİM </a:t>
            </a:r>
          </a:p>
        </p:txBody>
      </p:sp>
    </p:spTree>
    <p:extLst>
      <p:ext uri="{BB962C8B-B14F-4D97-AF65-F5344CB8AC3E}">
        <p14:creationId xmlns:p14="http://schemas.microsoft.com/office/powerpoint/2010/main" val="70002125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TM02900720[[fn=Entegral]]</Template>
  <TotalTime>582</TotalTime>
  <Words>1381</Words>
  <Application>Microsoft Office PowerPoint</Application>
  <PresentationFormat>Geniş ekran</PresentationFormat>
  <Paragraphs>55</Paragraphs>
  <Slides>17</Slides>
  <Notes>0</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17</vt:i4>
      </vt:variant>
    </vt:vector>
  </HeadingPairs>
  <TitlesOfParts>
    <vt:vector size="23" baseType="lpstr">
      <vt:lpstr>Bell MT</vt:lpstr>
      <vt:lpstr>Tw Cen MT</vt:lpstr>
      <vt:lpstr>Tw Cen MT Condensed</vt:lpstr>
      <vt:lpstr>Wingdings</vt:lpstr>
      <vt:lpstr>Wingdings 3</vt:lpstr>
      <vt:lpstr>İntegral</vt:lpstr>
      <vt:lpstr>Görüntü işleme teknikleri ve kümeleme yöntemleri kullanılarak fındık meyvesinin tespit ve sınıflandırılması</vt:lpstr>
      <vt:lpstr>PowerPoint Sunusu</vt:lpstr>
      <vt:lpstr>ÖNERİLEN YÖNTEM</vt:lpstr>
      <vt:lpstr>1- GÖRÜNTÜ ÖN İŞLEME AŞAMASI</vt:lpstr>
      <vt:lpstr>PowerPoint Sunusu</vt:lpstr>
      <vt:lpstr>PowerPoint Sunusu</vt:lpstr>
      <vt:lpstr>PowerPoint Sunusu</vt:lpstr>
      <vt:lpstr>2- Nesne bulma ve özellik çıkarımı işlemi aşaması</vt:lpstr>
      <vt:lpstr>PowerPoint Sunusu</vt:lpstr>
      <vt:lpstr>3- Sınıflandırma işlemi aşamasına ait adımlar</vt:lpstr>
      <vt:lpstr>PowerPoint Sunusu</vt:lpstr>
      <vt:lpstr>DENEYSEL ÇALIŞMA</vt:lpstr>
      <vt:lpstr>PowerPoint Sunusu</vt:lpstr>
      <vt:lpstr>PowerPoint Sunusu</vt:lpstr>
      <vt:lpstr>sonuçlar</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Görüntü işleme teknikleri ve kümeleme yöntemleri kullanılarak fındık meyvesinin tespit ve sınıflandırılması</dc:title>
  <dc:creator>Senanur paksoy</dc:creator>
  <cp:lastModifiedBy>Senanur paksoy</cp:lastModifiedBy>
  <cp:revision>4</cp:revision>
  <dcterms:created xsi:type="dcterms:W3CDTF">2022-12-14T11:03:03Z</dcterms:created>
  <dcterms:modified xsi:type="dcterms:W3CDTF">2022-12-15T15:18:18Z</dcterms:modified>
</cp:coreProperties>
</file>